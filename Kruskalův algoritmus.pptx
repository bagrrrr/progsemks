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074AB8-2AD1-496D-B187-16004E4ED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74445B2-A576-46C7-A593-8B485B309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769FB9-A491-4D78-B663-BEB202DD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237D8D-30E0-449A-9C30-925D8F76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2AD5AF-15E3-43FB-92EA-0074245F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073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90D49F-76F0-4317-9139-17D9FDDB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487DEA-BB3F-4234-8224-833A1C731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36DD28-83D4-40F2-B96D-BA77C0A9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4FE271D-FA34-4260-B670-23139238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04D4822-1418-40EF-A525-F6A14346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336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303DF8-978A-4112-84C4-5F61C96E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790D6A1-73EC-4225-A1E1-7E687C490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B5E2F5-7126-404A-BFFF-78B5E3F2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539161-4A5C-4AD5-83DC-CFDFC56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F22BE8-F9F1-479E-ACE0-4B97D065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594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429F5-A4D0-44DF-9586-82E1A67D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A0D4D8-8E22-481C-861E-E7BD8E993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6DDB1AA-05CC-4117-A197-CF8DB250E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D21561-AF20-40F6-A965-4C16A389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BF0D456-F191-4FE3-A3CF-6F9970E7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7743668-1333-44CB-88F9-B13914BD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70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C70D05-2DC5-4757-8669-0F5A8706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665C085-D1C6-4B8C-B448-48FF61202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33B1A79-E982-45C9-A43F-8E53FF583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2F9A6E0-0119-4364-8B03-A4344C827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2704896-D4F3-4A94-B168-D7FD27C61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EA07145-A74F-40A5-9C50-96BFFEFB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0CCD670-963F-4218-AD6C-2976919D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7AA12A5-C83F-4D0E-BA4A-2A64E4ED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33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DCC890-91F9-4B5C-AB2F-58411D1F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3A2CF82-0BCD-4A7D-AA01-DD3F4423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1324C4-FAFD-4B04-986B-36C1E883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CC70E0D-5C79-4D5B-A9AB-F3D25C4F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678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31BC61D-082B-4171-A50C-01A61C3A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4B07529-8B67-4882-B76B-38375708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F4B87B5-53AB-4BFB-9899-51257A93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081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007E99-A7F4-49CB-AA7E-560A0B22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FB907D-B00C-4A9C-91D4-A83F3BEE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E6EC1CE-4844-469B-8D7C-8E616B92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7236C2C-3541-458A-BEA2-781F6915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E0A2F78-E69C-4686-BF25-2AC80C06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14F246F-7D8B-4F5D-9A9F-82A7D45A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557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478B10-53D9-499F-A2DD-0901486B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D550376-43D5-4537-BD45-C48C32692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4950E70-1DF9-4D8C-8600-CA3D56231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7367E75-F37E-4DE8-A82F-137905B1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37A7212-6C85-4A3F-A51E-E1D599B7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F187BA-BEBC-4A42-BA20-6103ABC6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67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401C00-7CAB-47C2-BD63-721C4CDF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E4881EA-E787-43DD-8600-6249531E2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3340A2-AC60-4079-A9C3-7B2ADBCE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3B5E79-8AA5-452F-B708-0BD9E879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B2C1D0-8C8A-4770-9993-4368A88D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276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9403E21-4AA0-4604-AFDB-310524DD6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8122816-D513-4D75-BA3F-A9D7EB991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81418E-37D9-4212-9086-E2DC7395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40329A-CCBA-4EF7-94BE-65AACCE6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425622-D5D4-431B-A07C-9696D6D4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758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7104B66-FFB5-4DE2-A433-3AE06D48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8F0642-B3D7-4B8A-9FEF-CC8DD2A2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409371-DF2C-40DC-BAEC-8D61EB19D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1D827-8AA8-4934-AFD2-771498CF3B22}" type="datetimeFigureOut">
              <a:rPr lang="cs-CZ" smtClean="0"/>
              <a:t>26.01.2025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D5D083-611A-4803-A345-9038F3524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6CB4DC-E9A5-4179-AD01-3A14BAA0B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F8334-BDF3-403D-AD9E-5BD01BBB66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753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F9D6135-527A-4CDC-92E5-CFFB796A921B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D3CABF-499C-471D-9901-17228A1B9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Kruskal</a:t>
            </a:r>
            <a:r>
              <a:rPr lang="cs-CZ" dirty="0" err="1">
                <a:solidFill>
                  <a:schemeClr val="bg1"/>
                </a:solidFill>
              </a:rPr>
              <a:t>ův</a:t>
            </a:r>
            <a:r>
              <a:rPr lang="cs-CZ" dirty="0">
                <a:solidFill>
                  <a:schemeClr val="bg1"/>
                </a:solidFill>
              </a:rPr>
              <a:t> algoritmus</a:t>
            </a:r>
            <a:br>
              <a:rPr lang="cs-CZ" dirty="0">
                <a:solidFill>
                  <a:schemeClr val="bg1"/>
                </a:solidFill>
              </a:rPr>
            </a:br>
            <a:r>
              <a:rPr lang="cs-CZ" dirty="0">
                <a:solidFill>
                  <a:schemeClr val="bg1"/>
                </a:solidFill>
              </a:rPr>
              <a:t>a 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34F4CDB-2FA3-4B19-A3C2-47CB31C8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8441" y="6381945"/>
            <a:ext cx="2284429" cy="393569"/>
          </a:xfrm>
        </p:spPr>
        <p:txBody>
          <a:bodyPr>
            <a:normAutofit lnSpcReduction="10000"/>
          </a:bodyPr>
          <a:lstStyle/>
          <a:p>
            <a:r>
              <a:rPr lang="cs-CZ" dirty="0"/>
              <a:t>Kryštof </a:t>
            </a:r>
            <a:r>
              <a:rPr lang="cs-CZ" dirty="0" err="1"/>
              <a:t>Šejhar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317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F9D6135-527A-4CDC-92E5-CFFB796A921B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D3CABF-499C-471D-9901-17228A1B9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2117"/>
            <a:ext cx="9144000" cy="95926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Josef </a:t>
            </a:r>
            <a:r>
              <a:rPr lang="cs-CZ" dirty="0" err="1">
                <a:solidFill>
                  <a:schemeClr val="bg1"/>
                </a:solidFill>
              </a:rPr>
              <a:t>Kruskal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65B26507-9A4F-450D-AB34-BBFFFA8D2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20730"/>
            <a:ext cx="9144000" cy="441110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</a:rPr>
              <a:t>1928  NY - 2010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</a:rPr>
              <a:t>Matematik, Informatik, Statistik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</a:rPr>
              <a:t>University </a:t>
            </a:r>
            <a:r>
              <a:rPr lang="cs-CZ" dirty="0" err="1">
                <a:solidFill>
                  <a:schemeClr val="bg1"/>
                </a:solidFill>
              </a:rPr>
              <a:t>of</a:t>
            </a:r>
            <a:r>
              <a:rPr lang="cs-CZ" dirty="0">
                <a:solidFill>
                  <a:schemeClr val="bg1"/>
                </a:solidFill>
              </a:rPr>
              <a:t> Chicago, </a:t>
            </a:r>
            <a:r>
              <a:rPr lang="cs-CZ" dirty="0" err="1">
                <a:solidFill>
                  <a:schemeClr val="bg1"/>
                </a:solidFill>
              </a:rPr>
              <a:t>Princeton</a:t>
            </a:r>
            <a:r>
              <a:rPr lang="cs-CZ" dirty="0">
                <a:solidFill>
                  <a:schemeClr val="bg1"/>
                </a:solidFill>
              </a:rPr>
              <a:t> University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 err="1">
                <a:solidFill>
                  <a:schemeClr val="bg1"/>
                </a:solidFill>
              </a:rPr>
              <a:t>Kruskalův</a:t>
            </a:r>
            <a:r>
              <a:rPr lang="cs-CZ" dirty="0">
                <a:solidFill>
                  <a:schemeClr val="bg1"/>
                </a:solidFill>
              </a:rPr>
              <a:t> algoritmus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 err="1">
                <a:solidFill>
                  <a:schemeClr val="bg1"/>
                </a:solidFill>
              </a:rPr>
              <a:t>Kruskalova</a:t>
            </a:r>
            <a:r>
              <a:rPr lang="cs-CZ" dirty="0">
                <a:solidFill>
                  <a:schemeClr val="bg1"/>
                </a:solidFill>
              </a:rPr>
              <a:t> teorie stromů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 err="1">
                <a:solidFill>
                  <a:schemeClr val="bg1"/>
                </a:solidFill>
              </a:rPr>
              <a:t>Kruskal</a:t>
            </a:r>
            <a:r>
              <a:rPr lang="cs-CZ" dirty="0">
                <a:solidFill>
                  <a:schemeClr val="bg1"/>
                </a:solidFill>
              </a:rPr>
              <a:t>-Katonova teorie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790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00486D2-8720-4FA7-A7D5-81B3E7874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3" y="0"/>
            <a:ext cx="12165074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144CA67-173A-4257-BF6D-5E969AA6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Algoritmus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8BCE23-179A-4EE7-81DD-C9F7220D5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9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Vstupem je souvislý graf s unikátními váhami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Uspořádáme hrany podle vah: w(e1) &lt; . . . &lt; w(</a:t>
            </a:r>
            <a:r>
              <a:rPr lang="cs-CZ" dirty="0" err="1">
                <a:solidFill>
                  <a:schemeClr val="bg1"/>
                </a:solidFill>
              </a:rPr>
              <a:t>em</a:t>
            </a:r>
            <a:r>
              <a:rPr lang="cs-CZ" dirty="0">
                <a:solidFill>
                  <a:schemeClr val="bg1"/>
                </a:solidFill>
              </a:rPr>
              <a:t>).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T ← (V, ∅) / začneme lesem samých izolovaných vrcholů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Pro i = 1, . . . , m opakujeme: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       u, v ← krajní vrcholy hrany </a:t>
            </a:r>
            <a:r>
              <a:rPr lang="cs-CZ" dirty="0" err="1">
                <a:solidFill>
                  <a:schemeClr val="bg1"/>
                </a:solidFill>
              </a:rPr>
              <a:t>ei</a:t>
            </a:r>
            <a:endParaRPr lang="cs-CZ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       Pokud u a v leží v různých komponentách lesa T: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              T ← T + </a:t>
            </a:r>
            <a:r>
              <a:rPr lang="cs-CZ" dirty="0" err="1">
                <a:solidFill>
                  <a:schemeClr val="bg1"/>
                </a:solidFill>
              </a:rPr>
              <a:t>ei</a:t>
            </a:r>
            <a:r>
              <a:rPr lang="cs-CZ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Výstupem je minimální kostra T</a:t>
            </a: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O(</a:t>
            </a:r>
            <a:r>
              <a:rPr lang="cs-CZ" dirty="0" err="1">
                <a:solidFill>
                  <a:schemeClr val="bg1"/>
                </a:solidFill>
              </a:rPr>
              <a:t>nm</a:t>
            </a:r>
            <a:r>
              <a:rPr lang="cs-CZ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258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F9D6135-527A-4CDC-92E5-CFFB796A921B}"/>
              </a:ext>
            </a:extLst>
          </p:cNvPr>
          <p:cNvSpPr/>
          <p:nvPr/>
        </p:nvSpPr>
        <p:spPr>
          <a:xfrm>
            <a:off x="-19574" y="-14681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highlight>
                <a:srgbClr val="00FFFF"/>
              </a:highlight>
            </a:endParaRPr>
          </a:p>
        </p:txBody>
      </p:sp>
      <p:sp>
        <p:nvSpPr>
          <p:cNvPr id="7" name="Ovál 6">
            <a:extLst>
              <a:ext uri="{FF2B5EF4-FFF2-40B4-BE49-F238E27FC236}">
                <a16:creationId xmlns:a16="http://schemas.microsoft.com/office/drawing/2014/main" id="{A2EB0890-1C25-48BB-A7EC-D8628200154C}"/>
              </a:ext>
            </a:extLst>
          </p:cNvPr>
          <p:cNvSpPr>
            <a:spLocks noChangeAspect="1"/>
          </p:cNvSpPr>
          <p:nvPr/>
        </p:nvSpPr>
        <p:spPr>
          <a:xfrm>
            <a:off x="7153050" y="13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8" name="Ovál 7">
            <a:extLst>
              <a:ext uri="{FF2B5EF4-FFF2-40B4-BE49-F238E27FC236}">
                <a16:creationId xmlns:a16="http://schemas.microsoft.com/office/drawing/2014/main" id="{B226D7EF-4574-4E39-BCB7-68BA803E6EF1}"/>
              </a:ext>
            </a:extLst>
          </p:cNvPr>
          <p:cNvSpPr>
            <a:spLocks noChangeAspect="1"/>
          </p:cNvSpPr>
          <p:nvPr/>
        </p:nvSpPr>
        <p:spPr>
          <a:xfrm>
            <a:off x="8953050" y="13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9" name="Ovál 8">
            <a:extLst>
              <a:ext uri="{FF2B5EF4-FFF2-40B4-BE49-F238E27FC236}">
                <a16:creationId xmlns:a16="http://schemas.microsoft.com/office/drawing/2014/main" id="{1D11B2C5-0615-4E40-A546-92A08339C520}"/>
              </a:ext>
            </a:extLst>
          </p:cNvPr>
          <p:cNvSpPr>
            <a:spLocks noChangeAspect="1"/>
          </p:cNvSpPr>
          <p:nvPr/>
        </p:nvSpPr>
        <p:spPr>
          <a:xfrm>
            <a:off x="7153050" y="31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0" name="Ovál 9">
            <a:extLst>
              <a:ext uri="{FF2B5EF4-FFF2-40B4-BE49-F238E27FC236}">
                <a16:creationId xmlns:a16="http://schemas.microsoft.com/office/drawing/2014/main" id="{9D4ED1A5-1B9C-457C-9955-8F51416796E6}"/>
              </a:ext>
            </a:extLst>
          </p:cNvPr>
          <p:cNvSpPr>
            <a:spLocks noChangeAspect="1"/>
          </p:cNvSpPr>
          <p:nvPr/>
        </p:nvSpPr>
        <p:spPr>
          <a:xfrm>
            <a:off x="8953050" y="31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2" name="Ovál 11">
            <a:extLst>
              <a:ext uri="{FF2B5EF4-FFF2-40B4-BE49-F238E27FC236}">
                <a16:creationId xmlns:a16="http://schemas.microsoft.com/office/drawing/2014/main" id="{8C69BE0E-F47F-4FA4-B83D-C802D4372072}"/>
              </a:ext>
            </a:extLst>
          </p:cNvPr>
          <p:cNvSpPr>
            <a:spLocks noChangeAspect="1"/>
          </p:cNvSpPr>
          <p:nvPr/>
        </p:nvSpPr>
        <p:spPr>
          <a:xfrm>
            <a:off x="10753050" y="31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3" name="Ovál 12">
            <a:extLst>
              <a:ext uri="{FF2B5EF4-FFF2-40B4-BE49-F238E27FC236}">
                <a16:creationId xmlns:a16="http://schemas.microsoft.com/office/drawing/2014/main" id="{B7C09FB2-14A7-4FB0-AAB2-F374983130CE}"/>
              </a:ext>
            </a:extLst>
          </p:cNvPr>
          <p:cNvSpPr>
            <a:spLocks noChangeAspect="1"/>
          </p:cNvSpPr>
          <p:nvPr/>
        </p:nvSpPr>
        <p:spPr>
          <a:xfrm>
            <a:off x="89530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A0AA2655-AE3D-4889-B612-50ED619E7CAC}"/>
              </a:ext>
            </a:extLst>
          </p:cNvPr>
          <p:cNvSpPr>
            <a:spLocks noChangeAspect="1"/>
          </p:cNvSpPr>
          <p:nvPr/>
        </p:nvSpPr>
        <p:spPr>
          <a:xfrm>
            <a:off x="107530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C35C915A-F943-4629-A4CA-CCD1E8CFB361}"/>
              </a:ext>
            </a:extLst>
          </p:cNvPr>
          <p:cNvSpPr>
            <a:spLocks noChangeAspect="1"/>
          </p:cNvSpPr>
          <p:nvPr/>
        </p:nvSpPr>
        <p:spPr>
          <a:xfrm>
            <a:off x="10753050" y="13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6" name="Ovál 15">
            <a:extLst>
              <a:ext uri="{FF2B5EF4-FFF2-40B4-BE49-F238E27FC236}">
                <a16:creationId xmlns:a16="http://schemas.microsoft.com/office/drawing/2014/main" id="{2A3B006B-A104-4864-97A5-6A16E4E5A7D4}"/>
              </a:ext>
            </a:extLst>
          </p:cNvPr>
          <p:cNvSpPr>
            <a:spLocks noChangeAspect="1"/>
          </p:cNvSpPr>
          <p:nvPr/>
        </p:nvSpPr>
        <p:spPr>
          <a:xfrm>
            <a:off x="71530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7" name="Ovál 16">
            <a:extLst>
              <a:ext uri="{FF2B5EF4-FFF2-40B4-BE49-F238E27FC236}">
                <a16:creationId xmlns:a16="http://schemas.microsoft.com/office/drawing/2014/main" id="{B8CE9F97-89E5-4FF7-9869-E49A0B0F0CDD}"/>
              </a:ext>
            </a:extLst>
          </p:cNvPr>
          <p:cNvSpPr>
            <a:spLocks noChangeAspect="1"/>
          </p:cNvSpPr>
          <p:nvPr/>
        </p:nvSpPr>
        <p:spPr>
          <a:xfrm>
            <a:off x="942750" y="13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FC66A566-80AC-4FA0-9757-9DE4DDAF351E}"/>
              </a:ext>
            </a:extLst>
          </p:cNvPr>
          <p:cNvSpPr>
            <a:spLocks noChangeAspect="1"/>
          </p:cNvSpPr>
          <p:nvPr/>
        </p:nvSpPr>
        <p:spPr>
          <a:xfrm>
            <a:off x="2742750" y="13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0528BA13-779C-484D-A3BF-0B0BE996E8DC}"/>
              </a:ext>
            </a:extLst>
          </p:cNvPr>
          <p:cNvSpPr>
            <a:spLocks noChangeAspect="1"/>
          </p:cNvSpPr>
          <p:nvPr/>
        </p:nvSpPr>
        <p:spPr>
          <a:xfrm>
            <a:off x="942750" y="31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0" name="Ovál 19">
            <a:extLst>
              <a:ext uri="{FF2B5EF4-FFF2-40B4-BE49-F238E27FC236}">
                <a16:creationId xmlns:a16="http://schemas.microsoft.com/office/drawing/2014/main" id="{9830691F-8B3E-4A05-AAF3-3444CE113B2A}"/>
              </a:ext>
            </a:extLst>
          </p:cNvPr>
          <p:cNvSpPr>
            <a:spLocks noChangeAspect="1"/>
          </p:cNvSpPr>
          <p:nvPr/>
        </p:nvSpPr>
        <p:spPr>
          <a:xfrm>
            <a:off x="2742750" y="313327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1" name="Ovál 20">
            <a:extLst>
              <a:ext uri="{FF2B5EF4-FFF2-40B4-BE49-F238E27FC236}">
                <a16:creationId xmlns:a16="http://schemas.microsoft.com/office/drawing/2014/main" id="{3F3615CE-1AA2-48A2-9242-E27503778FFC}"/>
              </a:ext>
            </a:extLst>
          </p:cNvPr>
          <p:cNvSpPr>
            <a:spLocks noChangeAspect="1"/>
          </p:cNvSpPr>
          <p:nvPr/>
        </p:nvSpPr>
        <p:spPr>
          <a:xfrm>
            <a:off x="4542750" y="31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2" name="Ovál 21">
            <a:extLst>
              <a:ext uri="{FF2B5EF4-FFF2-40B4-BE49-F238E27FC236}">
                <a16:creationId xmlns:a16="http://schemas.microsoft.com/office/drawing/2014/main" id="{19B7C1CB-C585-467E-9316-B7D556F370EC}"/>
              </a:ext>
            </a:extLst>
          </p:cNvPr>
          <p:cNvSpPr>
            <a:spLocks noChangeAspect="1"/>
          </p:cNvSpPr>
          <p:nvPr/>
        </p:nvSpPr>
        <p:spPr>
          <a:xfrm>
            <a:off x="27427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3" name="Ovál 22">
            <a:extLst>
              <a:ext uri="{FF2B5EF4-FFF2-40B4-BE49-F238E27FC236}">
                <a16:creationId xmlns:a16="http://schemas.microsoft.com/office/drawing/2014/main" id="{3AAA59D6-1124-4D07-B9BC-53D978A31702}"/>
              </a:ext>
            </a:extLst>
          </p:cNvPr>
          <p:cNvSpPr>
            <a:spLocks noChangeAspect="1"/>
          </p:cNvSpPr>
          <p:nvPr/>
        </p:nvSpPr>
        <p:spPr>
          <a:xfrm>
            <a:off x="45427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4" name="Ovál 23">
            <a:extLst>
              <a:ext uri="{FF2B5EF4-FFF2-40B4-BE49-F238E27FC236}">
                <a16:creationId xmlns:a16="http://schemas.microsoft.com/office/drawing/2014/main" id="{2C4F4D95-3A79-47F2-AEC4-3BBEEB24E67B}"/>
              </a:ext>
            </a:extLst>
          </p:cNvPr>
          <p:cNvSpPr>
            <a:spLocks noChangeAspect="1"/>
          </p:cNvSpPr>
          <p:nvPr/>
        </p:nvSpPr>
        <p:spPr>
          <a:xfrm>
            <a:off x="4542750" y="13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sp>
        <p:nvSpPr>
          <p:cNvPr id="25" name="Ovál 24">
            <a:extLst>
              <a:ext uri="{FF2B5EF4-FFF2-40B4-BE49-F238E27FC236}">
                <a16:creationId xmlns:a16="http://schemas.microsoft.com/office/drawing/2014/main" id="{DBAE0027-45EC-4195-B5E9-2CA8CD87E3CE}"/>
              </a:ext>
            </a:extLst>
          </p:cNvPr>
          <p:cNvSpPr>
            <a:spLocks noChangeAspect="1"/>
          </p:cNvSpPr>
          <p:nvPr/>
        </p:nvSpPr>
        <p:spPr>
          <a:xfrm>
            <a:off x="942750" y="494062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highlight>
                <a:srgbClr val="00FFFF"/>
              </a:highlight>
            </a:endParaRPr>
          </a:p>
        </p:txBody>
      </p:sp>
      <p:cxnSp>
        <p:nvCxnSpPr>
          <p:cNvPr id="29" name="Přímá spojnice 28">
            <a:extLst>
              <a:ext uri="{FF2B5EF4-FFF2-40B4-BE49-F238E27FC236}">
                <a16:creationId xmlns:a16="http://schemas.microsoft.com/office/drawing/2014/main" id="{6A38BEF9-80BA-41B4-BE80-01CC708FDF68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>
            <a:off x="1122750" y="169327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Přímá spojnice 33">
            <a:extLst>
              <a:ext uri="{FF2B5EF4-FFF2-40B4-BE49-F238E27FC236}">
                <a16:creationId xmlns:a16="http://schemas.microsoft.com/office/drawing/2014/main" id="{9C4D6381-4F6A-4E7F-BE9C-FE99BDAA7CED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>
            <a:off x="2922750" y="169327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Přímá spojnice 36">
            <a:extLst>
              <a:ext uri="{FF2B5EF4-FFF2-40B4-BE49-F238E27FC236}">
                <a16:creationId xmlns:a16="http://schemas.microsoft.com/office/drawing/2014/main" id="{E43B0DB3-F364-4569-BC80-55401881232C}"/>
              </a:ext>
            </a:extLst>
          </p:cNvPr>
          <p:cNvCxnSpPr>
            <a:cxnSpLocks/>
            <a:stCxn id="24" idx="4"/>
            <a:endCxn id="21" idx="0"/>
          </p:cNvCxnSpPr>
          <p:nvPr/>
        </p:nvCxnSpPr>
        <p:spPr>
          <a:xfrm>
            <a:off x="4722750" y="170062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Přímá spojnice 39">
            <a:extLst>
              <a:ext uri="{FF2B5EF4-FFF2-40B4-BE49-F238E27FC236}">
                <a16:creationId xmlns:a16="http://schemas.microsoft.com/office/drawing/2014/main" id="{730EF8C5-C309-4C02-BBB7-69B68C2CD079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>
            <a:off x="2922750" y="3493275"/>
            <a:ext cx="0" cy="144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Přímá spojnice 42">
            <a:extLst>
              <a:ext uri="{FF2B5EF4-FFF2-40B4-BE49-F238E27FC236}">
                <a16:creationId xmlns:a16="http://schemas.microsoft.com/office/drawing/2014/main" id="{B64A889E-1712-432B-B637-825A408D0AAD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4722750" y="350062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Přímá spojnice 45">
            <a:extLst>
              <a:ext uri="{FF2B5EF4-FFF2-40B4-BE49-F238E27FC236}">
                <a16:creationId xmlns:a16="http://schemas.microsoft.com/office/drawing/2014/main" id="{84C40168-1EE6-4EEF-A23D-47DC5A3BA7C8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3102750" y="3313275"/>
            <a:ext cx="1440000" cy="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Přímá spojnice 48">
            <a:extLst>
              <a:ext uri="{FF2B5EF4-FFF2-40B4-BE49-F238E27FC236}">
                <a16:creationId xmlns:a16="http://schemas.microsoft.com/office/drawing/2014/main" id="{65879AE3-110C-4710-B2C6-2C7A8CE5FA66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102749" y="1520625"/>
            <a:ext cx="1440001" cy="843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Přímá spojnice 54">
            <a:extLst>
              <a:ext uri="{FF2B5EF4-FFF2-40B4-BE49-F238E27FC236}">
                <a16:creationId xmlns:a16="http://schemas.microsoft.com/office/drawing/2014/main" id="{2D8E79CC-14BC-4642-93DA-2CDB5A1493F1}"/>
              </a:ext>
            </a:extLst>
          </p:cNvPr>
          <p:cNvCxnSpPr>
            <a:cxnSpLocks/>
          </p:cNvCxnSpPr>
          <p:nvPr/>
        </p:nvCxnSpPr>
        <p:spPr>
          <a:xfrm>
            <a:off x="1302750" y="1513275"/>
            <a:ext cx="1440000" cy="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Přímá spojnice 55">
            <a:extLst>
              <a:ext uri="{FF2B5EF4-FFF2-40B4-BE49-F238E27FC236}">
                <a16:creationId xmlns:a16="http://schemas.microsoft.com/office/drawing/2014/main" id="{2EE5B4EC-F981-4CD3-A106-9CA03D97C9A2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2750" y="3313275"/>
            <a:ext cx="1440000" cy="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Přímá spojnice 58">
            <a:extLst>
              <a:ext uri="{FF2B5EF4-FFF2-40B4-BE49-F238E27FC236}">
                <a16:creationId xmlns:a16="http://schemas.microsoft.com/office/drawing/2014/main" id="{61A999FB-8A03-4460-A7DE-6F5B51041C8D}"/>
              </a:ext>
            </a:extLst>
          </p:cNvPr>
          <p:cNvCxnSpPr>
            <a:cxnSpLocks/>
            <a:stCxn id="25" idx="0"/>
            <a:endCxn id="19" idx="4"/>
          </p:cNvCxnSpPr>
          <p:nvPr/>
        </p:nvCxnSpPr>
        <p:spPr>
          <a:xfrm flipV="1">
            <a:off x="1122750" y="3493275"/>
            <a:ext cx="0" cy="144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Přímá spojnice 61">
            <a:extLst>
              <a:ext uri="{FF2B5EF4-FFF2-40B4-BE49-F238E27FC236}">
                <a16:creationId xmlns:a16="http://schemas.microsoft.com/office/drawing/2014/main" id="{19AA0DA3-2A89-4CD9-9F50-F629A5D238C8}"/>
              </a:ext>
            </a:extLst>
          </p:cNvPr>
          <p:cNvCxnSpPr>
            <a:cxnSpLocks/>
            <a:stCxn id="25" idx="6"/>
            <a:endCxn id="22" idx="2"/>
          </p:cNvCxnSpPr>
          <p:nvPr/>
        </p:nvCxnSpPr>
        <p:spPr>
          <a:xfrm>
            <a:off x="1302750" y="5120625"/>
            <a:ext cx="1440000" cy="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Přímá spojnice 64">
            <a:extLst>
              <a:ext uri="{FF2B5EF4-FFF2-40B4-BE49-F238E27FC236}">
                <a16:creationId xmlns:a16="http://schemas.microsoft.com/office/drawing/2014/main" id="{2E39BDD9-EADE-4962-A4C8-0B9561DB5265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3102750" y="5120625"/>
            <a:ext cx="1440000" cy="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1" name="TextovéPole 70">
            <a:extLst>
              <a:ext uri="{FF2B5EF4-FFF2-40B4-BE49-F238E27FC236}">
                <a16:creationId xmlns:a16="http://schemas.microsoft.com/office/drawing/2014/main" id="{A7FE598C-26B0-4F04-830D-62E263D8697D}"/>
              </a:ext>
            </a:extLst>
          </p:cNvPr>
          <p:cNvSpPr txBox="1"/>
          <p:nvPr/>
        </p:nvSpPr>
        <p:spPr>
          <a:xfrm>
            <a:off x="1800000" y="13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72" name="TextovéPole 71">
            <a:extLst>
              <a:ext uri="{FF2B5EF4-FFF2-40B4-BE49-F238E27FC236}">
                <a16:creationId xmlns:a16="http://schemas.microsoft.com/office/drawing/2014/main" id="{879EA3C4-2176-469B-A5E9-F74338060EB5}"/>
              </a:ext>
            </a:extLst>
          </p:cNvPr>
          <p:cNvSpPr txBox="1"/>
          <p:nvPr/>
        </p:nvSpPr>
        <p:spPr>
          <a:xfrm>
            <a:off x="3599999" y="136654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3" name="TextovéPole 72">
            <a:extLst>
              <a:ext uri="{FF2B5EF4-FFF2-40B4-BE49-F238E27FC236}">
                <a16:creationId xmlns:a16="http://schemas.microsoft.com/office/drawing/2014/main" id="{F89A69A0-7E23-416B-BD4F-AD4611B98811}"/>
              </a:ext>
            </a:extLst>
          </p:cNvPr>
          <p:cNvSpPr txBox="1"/>
          <p:nvPr/>
        </p:nvSpPr>
        <p:spPr>
          <a:xfrm>
            <a:off x="3593700" y="3140625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4" name="TextovéPole 73">
            <a:extLst>
              <a:ext uri="{FF2B5EF4-FFF2-40B4-BE49-F238E27FC236}">
                <a16:creationId xmlns:a16="http://schemas.microsoft.com/office/drawing/2014/main" id="{8DA89C3C-02E1-49C4-AC24-339BF01B3221}"/>
              </a:ext>
            </a:extLst>
          </p:cNvPr>
          <p:cNvSpPr txBox="1"/>
          <p:nvPr/>
        </p:nvSpPr>
        <p:spPr>
          <a:xfrm>
            <a:off x="1820100" y="3140625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5" name="TextovéPole 74">
            <a:extLst>
              <a:ext uri="{FF2B5EF4-FFF2-40B4-BE49-F238E27FC236}">
                <a16:creationId xmlns:a16="http://schemas.microsoft.com/office/drawing/2014/main" id="{6159695A-2C83-4B95-B741-46FFAD3D397D}"/>
              </a:ext>
            </a:extLst>
          </p:cNvPr>
          <p:cNvSpPr txBox="1"/>
          <p:nvPr/>
        </p:nvSpPr>
        <p:spPr>
          <a:xfrm>
            <a:off x="1800000" y="4949626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6" name="TextovéPole 75">
            <a:extLst>
              <a:ext uri="{FF2B5EF4-FFF2-40B4-BE49-F238E27FC236}">
                <a16:creationId xmlns:a16="http://schemas.microsoft.com/office/drawing/2014/main" id="{776CF0BF-0BF7-42EC-BF60-D9A5C0A681A1}"/>
              </a:ext>
            </a:extLst>
          </p:cNvPr>
          <p:cNvSpPr txBox="1"/>
          <p:nvPr/>
        </p:nvSpPr>
        <p:spPr>
          <a:xfrm>
            <a:off x="3608400" y="4949626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77" name="TextovéPole 76">
            <a:extLst>
              <a:ext uri="{FF2B5EF4-FFF2-40B4-BE49-F238E27FC236}">
                <a16:creationId xmlns:a16="http://schemas.microsoft.com/office/drawing/2014/main" id="{806A0774-8DF3-43D9-BA7F-1EAD4B0F1439}"/>
              </a:ext>
            </a:extLst>
          </p:cNvPr>
          <p:cNvSpPr txBox="1"/>
          <p:nvPr/>
        </p:nvSpPr>
        <p:spPr>
          <a:xfrm>
            <a:off x="4506750" y="4044052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8" name="TextovéPole 77">
            <a:extLst>
              <a:ext uri="{FF2B5EF4-FFF2-40B4-BE49-F238E27FC236}">
                <a16:creationId xmlns:a16="http://schemas.microsoft.com/office/drawing/2014/main" id="{F36339A0-D67A-4306-908A-6E3930ADB096}"/>
              </a:ext>
            </a:extLst>
          </p:cNvPr>
          <p:cNvSpPr txBox="1"/>
          <p:nvPr/>
        </p:nvSpPr>
        <p:spPr>
          <a:xfrm>
            <a:off x="2706826" y="4044052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9" name="TextovéPole 78">
            <a:extLst>
              <a:ext uri="{FF2B5EF4-FFF2-40B4-BE49-F238E27FC236}">
                <a16:creationId xmlns:a16="http://schemas.microsoft.com/office/drawing/2014/main" id="{35BF06A1-F6B7-4FE2-BBAF-37B1DC11BA2C}"/>
              </a:ext>
            </a:extLst>
          </p:cNvPr>
          <p:cNvSpPr txBox="1"/>
          <p:nvPr/>
        </p:nvSpPr>
        <p:spPr>
          <a:xfrm>
            <a:off x="901577" y="4044052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80" name="TextovéPole 79">
            <a:extLst>
              <a:ext uri="{FF2B5EF4-FFF2-40B4-BE49-F238E27FC236}">
                <a16:creationId xmlns:a16="http://schemas.microsoft.com/office/drawing/2014/main" id="{9DBE226D-A9CE-4B28-97A1-EE356435ECCC}"/>
              </a:ext>
            </a:extLst>
          </p:cNvPr>
          <p:cNvSpPr txBox="1"/>
          <p:nvPr/>
        </p:nvSpPr>
        <p:spPr>
          <a:xfrm>
            <a:off x="4506750" y="2224835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1" name="TextovéPole 80">
            <a:extLst>
              <a:ext uri="{FF2B5EF4-FFF2-40B4-BE49-F238E27FC236}">
                <a16:creationId xmlns:a16="http://schemas.microsoft.com/office/drawing/2014/main" id="{72B4B5AF-7213-4F52-B382-FFE182074863}"/>
              </a:ext>
            </a:extLst>
          </p:cNvPr>
          <p:cNvSpPr txBox="1"/>
          <p:nvPr/>
        </p:nvSpPr>
        <p:spPr>
          <a:xfrm>
            <a:off x="2706826" y="2224835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2" name="TextovéPole 81">
            <a:extLst>
              <a:ext uri="{FF2B5EF4-FFF2-40B4-BE49-F238E27FC236}">
                <a16:creationId xmlns:a16="http://schemas.microsoft.com/office/drawing/2014/main" id="{67C7CA91-1F4E-4493-A603-9FA9C4C17B0F}"/>
              </a:ext>
            </a:extLst>
          </p:cNvPr>
          <p:cNvSpPr txBox="1"/>
          <p:nvPr/>
        </p:nvSpPr>
        <p:spPr>
          <a:xfrm>
            <a:off x="901577" y="2224835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85" name="Přímá spojnice 84">
            <a:extLst>
              <a:ext uri="{FF2B5EF4-FFF2-40B4-BE49-F238E27FC236}">
                <a16:creationId xmlns:a16="http://schemas.microsoft.com/office/drawing/2014/main" id="{04E5165A-3EAB-4A57-8322-5C353A493434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7333050" y="3493275"/>
            <a:ext cx="0" cy="144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8" name="Přímá spojnice 87">
            <a:extLst>
              <a:ext uri="{FF2B5EF4-FFF2-40B4-BE49-F238E27FC236}">
                <a16:creationId xmlns:a16="http://schemas.microsoft.com/office/drawing/2014/main" id="{2C8820E7-2525-4DA6-BB01-F15CF46F4835}"/>
              </a:ext>
            </a:extLst>
          </p:cNvPr>
          <p:cNvCxnSpPr>
            <a:cxnSpLocks/>
            <a:stCxn id="13" idx="2"/>
            <a:endCxn id="16" idx="6"/>
          </p:cNvCxnSpPr>
          <p:nvPr/>
        </p:nvCxnSpPr>
        <p:spPr>
          <a:xfrm flipH="1">
            <a:off x="7513050" y="5120625"/>
            <a:ext cx="1440000" cy="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Přímá spojnice 90">
            <a:extLst>
              <a:ext uri="{FF2B5EF4-FFF2-40B4-BE49-F238E27FC236}">
                <a16:creationId xmlns:a16="http://schemas.microsoft.com/office/drawing/2014/main" id="{3B30C6A1-0D5A-49F7-AEFF-04C719642DFA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9133050" y="3493275"/>
            <a:ext cx="0" cy="144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4" name="Přímá spojnice 93">
            <a:extLst>
              <a:ext uri="{FF2B5EF4-FFF2-40B4-BE49-F238E27FC236}">
                <a16:creationId xmlns:a16="http://schemas.microsoft.com/office/drawing/2014/main" id="{E84F0E3A-4247-42FB-8DA8-76616B4A3902}"/>
              </a:ext>
            </a:extLst>
          </p:cNvPr>
          <p:cNvCxnSpPr>
            <a:cxnSpLocks/>
            <a:stCxn id="15" idx="4"/>
            <a:endCxn id="12" idx="0"/>
          </p:cNvCxnSpPr>
          <p:nvPr/>
        </p:nvCxnSpPr>
        <p:spPr>
          <a:xfrm>
            <a:off x="10933050" y="170062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Přímá spojnice 96">
            <a:extLst>
              <a:ext uri="{FF2B5EF4-FFF2-40B4-BE49-F238E27FC236}">
                <a16:creationId xmlns:a16="http://schemas.microsoft.com/office/drawing/2014/main" id="{BDFF8F95-0030-4B52-9751-CBCD6CCB9108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9313050" y="3313275"/>
            <a:ext cx="1440000" cy="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0" name="Přímá spojnice 99">
            <a:extLst>
              <a:ext uri="{FF2B5EF4-FFF2-40B4-BE49-F238E27FC236}">
                <a16:creationId xmlns:a16="http://schemas.microsoft.com/office/drawing/2014/main" id="{F0E33714-4107-48BA-BDCA-46082DA185B3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9313050" y="1513275"/>
            <a:ext cx="1440000" cy="735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Přímá spojnice 102">
            <a:extLst>
              <a:ext uri="{FF2B5EF4-FFF2-40B4-BE49-F238E27FC236}">
                <a16:creationId xmlns:a16="http://schemas.microsoft.com/office/drawing/2014/main" id="{D2754958-B0E3-4871-8055-6941CE62C626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7333050" y="169327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Přímá spojnice 105">
            <a:extLst>
              <a:ext uri="{FF2B5EF4-FFF2-40B4-BE49-F238E27FC236}">
                <a16:creationId xmlns:a16="http://schemas.microsoft.com/office/drawing/2014/main" id="{BF6A1270-D4F4-4D5A-BDFC-D470CE35B21E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0933050" y="3500625"/>
            <a:ext cx="0" cy="1440000"/>
          </a:xfrm>
          <a:prstGeom prst="line">
            <a:avLst/>
          </a:prstGeom>
          <a:ln w="635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0" name="Přímá spojnice 109">
            <a:extLst>
              <a:ext uri="{FF2B5EF4-FFF2-40B4-BE49-F238E27FC236}">
                <a16:creationId xmlns:a16="http://schemas.microsoft.com/office/drawing/2014/main" id="{142F4567-2B6D-463B-A8FA-555C06FF56F0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9313050" y="5120625"/>
            <a:ext cx="14400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3" name="Přímá spojnice 112">
            <a:extLst>
              <a:ext uri="{FF2B5EF4-FFF2-40B4-BE49-F238E27FC236}">
                <a16:creationId xmlns:a16="http://schemas.microsoft.com/office/drawing/2014/main" id="{63D6703E-D22C-4964-BD81-E2A3F93B62E4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513050" y="3313275"/>
            <a:ext cx="14400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6" name="Přímá spojnice 115">
            <a:extLst>
              <a:ext uri="{FF2B5EF4-FFF2-40B4-BE49-F238E27FC236}">
                <a16:creationId xmlns:a16="http://schemas.microsoft.com/office/drawing/2014/main" id="{367FEC99-9459-4420-83FB-0EA10D28971B}"/>
              </a:ext>
            </a:extLst>
          </p:cNvPr>
          <p:cNvCxnSpPr>
            <a:cxnSpLocks/>
            <a:stCxn id="10" idx="0"/>
            <a:endCxn id="8" idx="4"/>
          </p:cNvCxnSpPr>
          <p:nvPr/>
        </p:nvCxnSpPr>
        <p:spPr>
          <a:xfrm flipV="1">
            <a:off x="9133050" y="1693275"/>
            <a:ext cx="0" cy="1440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9" name="Přímá spojnice 118">
            <a:extLst>
              <a:ext uri="{FF2B5EF4-FFF2-40B4-BE49-F238E27FC236}">
                <a16:creationId xmlns:a16="http://schemas.microsoft.com/office/drawing/2014/main" id="{69FD9DDF-1B75-4998-8483-B199A7B758AD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513050" y="1513275"/>
            <a:ext cx="14400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33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02AF-17F8-025E-5D67-3026D2FD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13BC5482-7C5C-AD7B-FD6E-BD4B47F7941D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DAD32E8-743D-9CF3-2897-9EB3728C8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41C0641-472D-0132-8062-DADA18755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7039"/>
            <a:ext cx="9144000" cy="4109593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</a:rPr>
              <a:t>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 reprezentuje komponenty v souvislosti grafu a umí na nich provádět následující funkce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(</a:t>
            </a:r>
            <a:r>
              <a:rPr lang="cs-CZ" dirty="0" err="1">
                <a:solidFill>
                  <a:schemeClr val="bg1"/>
                </a:solidFill>
              </a:rPr>
              <a:t>u,v</a:t>
            </a:r>
            <a:r>
              <a:rPr lang="cs-CZ" dirty="0">
                <a:solidFill>
                  <a:schemeClr val="bg1"/>
                </a:solidFill>
              </a:rPr>
              <a:t>) zjistí, zda vrcholy u a v leží v téže komponentě.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</a:rPr>
              <a:t>Union(</a:t>
            </a:r>
            <a:r>
              <a:rPr lang="cs-CZ" dirty="0" err="1">
                <a:solidFill>
                  <a:schemeClr val="bg1"/>
                </a:solidFill>
              </a:rPr>
              <a:t>u,v</a:t>
            </a:r>
            <a:r>
              <a:rPr lang="cs-CZ" dirty="0">
                <a:solidFill>
                  <a:schemeClr val="bg1"/>
                </a:solidFill>
              </a:rPr>
              <a:t>) přidá hranu </a:t>
            </a:r>
            <a:r>
              <a:rPr lang="cs-CZ" dirty="0" err="1">
                <a:solidFill>
                  <a:schemeClr val="bg1"/>
                </a:solidFill>
              </a:rPr>
              <a:t>uv</a:t>
            </a:r>
            <a:r>
              <a:rPr lang="cs-CZ" dirty="0">
                <a:solidFill>
                  <a:schemeClr val="bg1"/>
                </a:solidFill>
              </a:rPr>
              <a:t>, čili dvě komponenty spojí do jedné.</a:t>
            </a:r>
          </a:p>
          <a:p>
            <a:pPr algn="l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3784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B196-AC5A-81F8-5353-73E52E06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1BA95904-4BEA-8093-95C7-9EABC3286C8F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B496854-3CD7-0299-D31F-33DEFF067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 Algoritmus v poli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398BFCA-C87C-DAFB-07CF-321FA0C08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7039"/>
            <a:ext cx="9144000" cy="4109593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</a:rPr>
              <a:t>FIND  O(1)</a:t>
            </a:r>
          </a:p>
          <a:p>
            <a:pPr marL="457200" indent="-457200" algn="l">
              <a:buFont typeface="+mj-lt"/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Odpovíme ANO právě tehdy, když K(u) = K(v)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UNION  O(n)</a:t>
            </a:r>
          </a:p>
          <a:p>
            <a:pPr marL="457200" indent="-457200" algn="l">
              <a:buFont typeface="+mj-lt"/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Pro všechny vrcholy x:</a:t>
            </a:r>
          </a:p>
          <a:p>
            <a:pPr marL="457200" indent="-457200" algn="l">
              <a:buFont typeface="+mj-lt"/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      Pokud K(x) = K(u):</a:t>
            </a:r>
          </a:p>
          <a:p>
            <a:pPr marL="457200" indent="-457200" algn="l">
              <a:buFont typeface="+mj-lt"/>
              <a:buAutoNum type="arabicPeriod"/>
            </a:pPr>
            <a:r>
              <a:rPr lang="cs-CZ" dirty="0">
                <a:solidFill>
                  <a:schemeClr val="bg1"/>
                </a:solidFill>
              </a:rPr>
              <a:t>            K(x) </a:t>
            </a:r>
            <a:r>
              <a:rPr lang="cs-CZ" dirty="0">
                <a:solidFill>
                  <a:schemeClr val="bg1"/>
                </a:solidFill>
                <a:sym typeface="Wingdings" panose="05000000000000000000" pitchFamily="2" charset="2"/>
              </a:rPr>
              <a:t> K(v)</a:t>
            </a:r>
          </a:p>
          <a:p>
            <a:pPr algn="l"/>
            <a:r>
              <a:rPr lang="cs-CZ" dirty="0">
                <a:solidFill>
                  <a:schemeClr val="bg1"/>
                </a:solidFill>
                <a:sym typeface="Wingdings" panose="05000000000000000000" pitchFamily="2" charset="2"/>
              </a:rPr>
              <a:t>Celý algoritmus O(m log n + n^2)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68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6B13-9008-AD18-59CD-EA481ABF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FE4C3AC7-A064-3027-4D6C-9D2B3911848A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BB060E-A25E-F8DE-873B-AAB389CE4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 s keříky 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dnadpis 2">
                <a:extLst>
                  <a:ext uri="{FF2B5EF4-FFF2-40B4-BE49-F238E27FC236}">
                    <a16:creationId xmlns:a16="http://schemas.microsoft.com/office/drawing/2014/main" id="{9F2072F0-1C58-73CA-0067-D36C65931F6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2227039"/>
                <a:ext cx="9144000" cy="4462519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cs-CZ" dirty="0">
                    <a:solidFill>
                      <a:schemeClr val="bg1"/>
                    </a:solidFill>
                  </a:rPr>
                  <a:t>Komponenty pole T budeme reprezentovat stromem orientovaným ke kořeni.</a:t>
                </a:r>
              </a:p>
              <a:p>
                <a:pPr algn="l"/>
                <a:r>
                  <a:rPr lang="cs-CZ" dirty="0">
                    <a:solidFill>
                      <a:schemeClr val="bg1"/>
                    </a:solidFill>
                  </a:rPr>
                  <a:t>Každý vrchol v si bude pamatovat svého otce P(v), případně speciální hodnotu ∅, pokud je kořenem</a:t>
                </a:r>
              </a:p>
              <a:p>
                <a:pPr algn="l"/>
                <a:r>
                  <a:rPr lang="cs-CZ" dirty="0" err="1">
                    <a:solidFill>
                      <a:schemeClr val="bg1"/>
                    </a:solidFill>
                  </a:rPr>
                  <a:t>Find</a:t>
                </a:r>
                <a:r>
                  <a:rPr lang="cs-CZ" dirty="0">
                    <a:solidFill>
                      <a:schemeClr val="bg1"/>
                    </a:solidFill>
                  </a:rPr>
                  <a:t> z každého vrcholu vystopuje kořen keříku a porovná je:</a:t>
                </a:r>
              </a:p>
              <a:p>
                <a:pPr algn="l"/>
                <a:r>
                  <a:rPr lang="cs-CZ" dirty="0">
                    <a:solidFill>
                      <a:schemeClr val="bg1"/>
                    </a:solidFill>
                  </a:rPr>
                  <a:t>KOŘEN(x)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r>
                  <a:rPr lang="cs-CZ" dirty="0">
                    <a:solidFill>
                      <a:schemeClr val="bg1"/>
                    </a:solidFill>
                  </a:rPr>
                  <a:t>Pokud P(x) </a:t>
                </a:r>
                <a14:m>
                  <m:oMath xmlns:m="http://schemas.openxmlformats.org/officeDocument/2006/math">
                    <m:r>
                      <a:rPr lang="cs-CZ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cs-CZ" dirty="0">
                    <a:solidFill>
                      <a:schemeClr val="bg1"/>
                    </a:solidFill>
                  </a:rPr>
                  <a:t> ∅: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r>
                  <a:rPr lang="cs-CZ" dirty="0">
                    <a:solidFill>
                      <a:schemeClr val="bg1"/>
                    </a:solidFill>
                  </a:rPr>
                  <a:t>     x </a:t>
                </a:r>
                <a:r>
                  <a:rPr lang="cs-CZ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 P(x)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r>
                  <a:rPr lang="cs-CZ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Vrátíme kořen x</a:t>
                </a:r>
              </a:p>
              <a:p>
                <a:pPr algn="l"/>
                <a:r>
                  <a:rPr lang="cs-CZ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FIND</a:t>
                </a:r>
              </a:p>
              <a:p>
                <a:pPr marL="457200" indent="-457200" algn="l">
                  <a:buAutoNum type="arabicPeriod"/>
                </a:pPr>
                <a:r>
                  <a:rPr lang="cs-CZ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Vrátíme ANO právě tehdy, když KOŘEN(u) = KOŘEN(v)</a:t>
                </a:r>
                <a:endParaRPr lang="cs-CZ" dirty="0">
                  <a:solidFill>
                    <a:schemeClr val="bg1"/>
                  </a:solidFill>
                </a:endParaRPr>
              </a:p>
              <a:p>
                <a:pPr algn="l"/>
                <a:endParaRPr lang="cs-CZ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Podnadpis 2">
                <a:extLst>
                  <a:ext uri="{FF2B5EF4-FFF2-40B4-BE49-F238E27FC236}">
                    <a16:creationId xmlns:a16="http://schemas.microsoft.com/office/drawing/2014/main" id="{9F2072F0-1C58-73CA-0067-D36C65931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2227039"/>
                <a:ext cx="9144000" cy="4462519"/>
              </a:xfrm>
              <a:blipFill>
                <a:blip r:embed="rId3"/>
                <a:stretch>
                  <a:fillRect l="-1067" t="-2596" b="-410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33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FA68-5AB2-4F5B-8B58-8E25B9BA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133528CB-B7F9-1F5D-5213-A79100821420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038861-C3D9-CF1A-1B88-5229A2D47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 s keříky  2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AF59273-CAD3-3898-527A-3A6BFA98C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1922239"/>
            <a:ext cx="4908884" cy="4462519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</a:rPr>
              <a:t>Union mezi keříky natáhne novou hranu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Každému kořeni keříků přidáme hodnotu H(v),  jenž bude říkat, jak je keřík hluboký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Při slučování keříků vždy připojíme mělčí keřík k hlubšímu, pokud budou slučované keříky stejné hloubky, zvolíme nový kořen libovolně, a přidáme mu hloubku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6262B23-87B7-B82B-0A49-AD6B087C4C2F}"/>
              </a:ext>
            </a:extLst>
          </p:cNvPr>
          <p:cNvSpPr txBox="1"/>
          <p:nvPr/>
        </p:nvSpPr>
        <p:spPr>
          <a:xfrm>
            <a:off x="5372100" y="1931129"/>
            <a:ext cx="6172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UNION(</a:t>
            </a:r>
            <a:r>
              <a:rPr lang="cs-CZ" sz="2400" dirty="0" err="1">
                <a:solidFill>
                  <a:schemeClr val="bg1"/>
                </a:solidFill>
              </a:rPr>
              <a:t>u,v</a:t>
            </a:r>
            <a:r>
              <a:rPr lang="cs-CZ" sz="2400" dirty="0">
                <a:solidFill>
                  <a:schemeClr val="bg1"/>
                </a:solidFill>
              </a:rPr>
              <a:t>):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</a:rPr>
              <a:t>a </a:t>
            </a: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 KOŘEN(u), b  KOŘEN(v)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Je-li a = b, ihned skončíme.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Pokud H(a) &lt; H(b):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     P(a)  b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Pokud H(a) &gt; H(b):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     P(b)  a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Jinak: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     P(b)  a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     H(a)  H(a) + 1</a:t>
            </a:r>
          </a:p>
          <a:p>
            <a:r>
              <a:rPr lang="cs-CZ" sz="2400" dirty="0">
                <a:solidFill>
                  <a:schemeClr val="bg1"/>
                </a:solidFill>
                <a:sym typeface="Wingdings" panose="05000000000000000000" pitchFamily="2" charset="2"/>
              </a:rPr>
              <a:t>O(log n)</a:t>
            </a:r>
            <a:endParaRPr lang="cs-CZ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2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47D9-1890-3FF1-65DB-E271A761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0979BFC9-1847-0568-C7B9-2A11B08BD5ED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B32429-2656-F013-3D83-6ED526656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Důkaz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072A054-9D14-3ADC-811D-4E3389AAC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2069433"/>
            <a:ext cx="9144001" cy="429928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cs-CZ" dirty="0">
                <a:solidFill>
                  <a:schemeClr val="bg1"/>
                </a:solidFill>
              </a:rPr>
              <a:t>Na začátku mají všechny keříky hloubku 1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Pokud mají keříky hloubky různé, připojením mělčího keříku pod kořen toho hlubšího se hloubka nezmění a počet vrcholů neklesne, takže nerovnost stále platí.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Pokud je hloubka keříků stejná, každý z nich má hloubku alespoň 2^h vrcholů, a sloučením vznikne keřík hloubky h + 1 o alespoň 2^(h + 1) vrcholech, nerovnost je tudíž opět splněna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Důsledkem tohoto hloubky keříků nepřekročí log n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Hledání kořene keříku zabere čas lineární s jeho hloubkou, tedy O(log n). Obě operace datové struktury provedou dvě hledání kořene a O(1) dalších operací.</a:t>
            </a:r>
          </a:p>
          <a:p>
            <a:pPr algn="l"/>
            <a:r>
              <a:rPr lang="cs-CZ" dirty="0" err="1">
                <a:solidFill>
                  <a:schemeClr val="bg1"/>
                </a:solidFill>
              </a:rPr>
              <a:t>Kruskalův</a:t>
            </a:r>
            <a:r>
              <a:rPr lang="cs-CZ" dirty="0">
                <a:solidFill>
                  <a:schemeClr val="bg1"/>
                </a:solidFill>
              </a:rPr>
              <a:t> algoritmus s keříkovou strukturou pro Union-</a:t>
            </a:r>
            <a:r>
              <a:rPr lang="cs-CZ" dirty="0" err="1">
                <a:solidFill>
                  <a:schemeClr val="bg1"/>
                </a:solidFill>
              </a:rPr>
              <a:t>Find</a:t>
            </a:r>
            <a:r>
              <a:rPr lang="cs-CZ" dirty="0">
                <a:solidFill>
                  <a:schemeClr val="bg1"/>
                </a:solidFill>
              </a:rPr>
              <a:t> najde minimální kostru v čase O(m log n).</a:t>
            </a:r>
          </a:p>
        </p:txBody>
      </p:sp>
    </p:spTree>
    <p:extLst>
      <p:ext uri="{BB962C8B-B14F-4D97-AF65-F5344CB8AC3E}">
        <p14:creationId xmlns:p14="http://schemas.microsoft.com/office/powerpoint/2010/main" val="92534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36F7-0C81-3B44-4ABC-C8F1A6E8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320E7AA-D76F-3213-649A-CC44D1B55C0B}"/>
              </a:ext>
            </a:extLst>
          </p:cNvPr>
          <p:cNvSpPr/>
          <p:nvPr/>
        </p:nvSpPr>
        <p:spPr>
          <a:xfrm>
            <a:off x="-39148" y="0"/>
            <a:ext cx="12231148" cy="6887361"/>
          </a:xfrm>
          <a:prstGeom prst="rect">
            <a:avLst/>
          </a:prstGeom>
          <a:blipFill dpi="0" rotWithShape="1">
            <a:blip r:embed="rId2">
              <a:alphaModFix amt="8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5C962E-8D0D-68E1-CA56-A87862CBE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8805DB5-D9B6-D73F-ED56-097F3408B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5421647"/>
            <a:ext cx="9144001" cy="947070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</a:rPr>
              <a:t>Zdroj:</a:t>
            </a:r>
          </a:p>
          <a:p>
            <a:pPr algn="l"/>
            <a:r>
              <a:rPr lang="cs-CZ" dirty="0">
                <a:solidFill>
                  <a:schemeClr val="bg1"/>
                </a:solidFill>
              </a:rPr>
              <a:t>https://pruvodce.ucw.cz/static/pruvodce.pdf</a:t>
            </a:r>
          </a:p>
        </p:txBody>
      </p:sp>
    </p:spTree>
    <p:extLst>
      <p:ext uri="{BB962C8B-B14F-4D97-AF65-F5344CB8AC3E}">
        <p14:creationId xmlns:p14="http://schemas.microsoft.com/office/powerpoint/2010/main" val="307806488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618</Words>
  <Application>Microsoft Office PowerPoint</Application>
  <PresentationFormat>Širokoúhlá obrazovka</PresentationFormat>
  <Paragraphs>78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Motiv Office</vt:lpstr>
      <vt:lpstr>Kruskalův algoritmus a Union-Find</vt:lpstr>
      <vt:lpstr>Josef Kruskal</vt:lpstr>
      <vt:lpstr>Algoritmus</vt:lpstr>
      <vt:lpstr>Prezentace aplikace PowerPoint</vt:lpstr>
      <vt:lpstr>Union-Find</vt:lpstr>
      <vt:lpstr>Union-Find Algoritmus v poli</vt:lpstr>
      <vt:lpstr>Union-Find s keříky  1</vt:lpstr>
      <vt:lpstr>Union-Find s keříky  2</vt:lpstr>
      <vt:lpstr>Důkaz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Kruskalův algoritmus</dc:title>
  <dc:creator>Šejhar, Kryštof</dc:creator>
  <cp:lastModifiedBy>Kryštof Šejhar</cp:lastModifiedBy>
  <cp:revision>8</cp:revision>
  <dcterms:created xsi:type="dcterms:W3CDTF">2025-01-15T13:45:17Z</dcterms:created>
  <dcterms:modified xsi:type="dcterms:W3CDTF">2025-01-26T15:05:59Z</dcterms:modified>
</cp:coreProperties>
</file>